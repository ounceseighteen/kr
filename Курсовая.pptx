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032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May 27,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58971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May 27,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55759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May 27,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8930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May 27,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451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May 27, 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15493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May 27, 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53589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May 27, 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85456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May 27, 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00919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May 27,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84938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May 27,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19964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May 27,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4079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May 27,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413095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May 27,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61953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May 27, 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79086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May 27, 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42932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May 27,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49184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May 27,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14481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DEA2CF1-0EB2-4673-802D-3371233E4A77}" type="datetime2">
              <a:rPr lang="en-US" smtClean="0"/>
              <a:t>Wednesday, May 27,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990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875F35-7642-FA33-99C7-2541916ADE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000" y="720000"/>
            <a:ext cx="5015638" cy="2804400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ru-RU" sz="3900" dirty="0"/>
              <a:t>Автоматизированная информационная система управления каршерингом автомобилей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1A6CCE9-F2AE-FB37-BFAC-4888879673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42" r="19738" b="-1"/>
          <a:stretch>
            <a:fillRect/>
          </a:stretch>
        </p:blipFill>
        <p:spPr>
          <a:xfrm>
            <a:off x="6529067" y="10"/>
            <a:ext cx="5662935" cy="6857990"/>
          </a:xfrm>
          <a:custGeom>
            <a:avLst/>
            <a:gdLst/>
            <a:ahLst/>
            <a:cxnLst/>
            <a:rect l="l" t="t" r="r" b="b"/>
            <a:pathLst>
              <a:path w="5662935" h="6858000">
                <a:moveTo>
                  <a:pt x="598332" y="0"/>
                </a:moveTo>
                <a:lnTo>
                  <a:pt x="5662935" y="0"/>
                </a:lnTo>
                <a:lnTo>
                  <a:pt x="5662935" y="6858000"/>
                </a:lnTo>
                <a:lnTo>
                  <a:pt x="0" y="6858000"/>
                </a:lnTo>
                <a:lnTo>
                  <a:pt x="78957" y="6777438"/>
                </a:lnTo>
                <a:cubicBezTo>
                  <a:pt x="291624" y="6544265"/>
                  <a:pt x="490445" y="6275955"/>
                  <a:pt x="672224" y="5969316"/>
                </a:cubicBezTo>
                <a:cubicBezTo>
                  <a:pt x="914597" y="5515036"/>
                  <a:pt x="1066080" y="5030470"/>
                  <a:pt x="1217563" y="4515619"/>
                </a:cubicBezTo>
                <a:cubicBezTo>
                  <a:pt x="1338748" y="3970483"/>
                  <a:pt x="1399341" y="3516203"/>
                  <a:pt x="1399341" y="3061922"/>
                </a:cubicBezTo>
                <a:cubicBezTo>
                  <a:pt x="1399341" y="1948936"/>
                  <a:pt x="1190580" y="1021447"/>
                  <a:pt x="773055" y="27945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85657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D9B8FD4-CDEB-4EB4-B4DE-C89E11938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5A2E3D1D-9E9F-4739-BA14-D4D7FA9FB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FFB365B-E9DC-4859-B8AB-CB83EEBE4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ADAB9C8-EB37-4914-A699-C716FC8FE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A7EFAA-A825-B20A-0CA9-B86A7ABED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ru-RU" b="1">
                <a:solidFill>
                  <a:schemeClr val="bg2"/>
                </a:solidFill>
              </a:rPr>
              <a:t>Введение</a:t>
            </a:r>
            <a:br>
              <a:rPr lang="ru-RU">
                <a:solidFill>
                  <a:schemeClr val="bg2"/>
                </a:solidFill>
              </a:rPr>
            </a:br>
            <a:endParaRPr lang="ru-RU">
              <a:solidFill>
                <a:schemeClr val="bg2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D97A53-A269-8ABD-DBFB-0404A9A76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6269434" cy="4470821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ru-RU" b="1" dirty="0"/>
              <a:t>Задачи работы:</a:t>
            </a:r>
            <a:endParaRPr lang="ru-RU" dirty="0"/>
          </a:p>
          <a:p>
            <a:pPr lvl="0">
              <a:lnSpc>
                <a:spcPct val="90000"/>
              </a:lnSpc>
            </a:pPr>
            <a:r>
              <a:rPr lang="ru-RU" dirty="0"/>
              <a:t>Изучить теоретические основы, стандарты и методологии разработки и сопровождения автоматизированных информационных систем.</a:t>
            </a:r>
          </a:p>
          <a:p>
            <a:pPr lvl="0">
              <a:lnSpc>
                <a:spcPct val="90000"/>
              </a:lnSpc>
            </a:pPr>
            <a:r>
              <a:rPr lang="ru-RU" dirty="0"/>
              <a:t>Спроектировать структуру базы данных Microsoft Access и архитектуру приложения в Visual Studio с разграничением прав (Администратор/Автовладелец/Пользователь).</a:t>
            </a:r>
          </a:p>
          <a:p>
            <a:pPr lvl="0">
              <a:lnSpc>
                <a:spcPct val="90000"/>
              </a:lnSpc>
            </a:pPr>
            <a:r>
              <a:rPr lang="ru-RU" dirty="0"/>
              <a:t>Реализовать разные версии продукта и зафиксировать этапы разработки (релизы для разных ролей) в удаленном репозитории </a:t>
            </a:r>
            <a:r>
              <a:rPr lang="ru-RU" dirty="0" err="1"/>
              <a:t>GitHub</a:t>
            </a:r>
            <a:r>
              <a:rPr lang="ru-RU" dirty="0"/>
              <a:t>.</a:t>
            </a:r>
          </a:p>
          <a:p>
            <a:pPr>
              <a:lnSpc>
                <a:spcPct val="90000"/>
              </a:lnSpc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63555B0-32EF-AC28-AEA6-47E061BA9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2361" y="152400"/>
            <a:ext cx="78898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788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4110BD-B4CE-9772-291D-937589E4F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5629222" cy="140053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900" b="1"/>
              <a:t>Описание автоматизированной системы</a:t>
            </a:r>
            <a:endParaRPr lang="ru-RU" sz="2900"/>
          </a:p>
        </p:txBody>
      </p:sp>
      <p:sp>
        <p:nvSpPr>
          <p:cNvPr id="16" name="Freeform: Shape 9">
            <a:extLst>
              <a:ext uri="{FF2B5EF4-FFF2-40B4-BE49-F238E27FC236}">
                <a16:creationId xmlns:a16="http://schemas.microsoft.com/office/drawing/2014/main" id="{B52D69C2-6C47-427C-AE60-582FE30B2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98731" y="664312"/>
            <a:ext cx="6858001" cy="5529377"/>
          </a:xfrm>
          <a:custGeom>
            <a:avLst/>
            <a:gdLst>
              <a:gd name="connsiteX0" fmla="*/ 6858001 w 6858001"/>
              <a:gd name="connsiteY0" fmla="*/ 1177 h 5529377"/>
              <a:gd name="connsiteX1" fmla="*/ 6858001 w 6858001"/>
              <a:gd name="connsiteY1" fmla="*/ 1344715 h 5529377"/>
              <a:gd name="connsiteX2" fmla="*/ 6858000 w 6858001"/>
              <a:gd name="connsiteY2" fmla="*/ 1344715 h 5529377"/>
              <a:gd name="connsiteX3" fmla="*/ 6858000 w 6858001"/>
              <a:gd name="connsiteY3" fmla="*/ 5529377 h 5529377"/>
              <a:gd name="connsiteX4" fmla="*/ 0 w 6858001"/>
              <a:gd name="connsiteY4" fmla="*/ 5529376 h 5529377"/>
              <a:gd name="connsiteX5" fmla="*/ 0 w 6858001"/>
              <a:gd name="connsiteY5" fmla="*/ 891096 h 5529377"/>
              <a:gd name="connsiteX6" fmla="*/ 1 w 6858001"/>
              <a:gd name="connsiteY6" fmla="*/ 891096 h 5529377"/>
              <a:gd name="connsiteX7" fmla="*/ 1 w 6858001"/>
              <a:gd name="connsiteY7" fmla="*/ 0 h 5529377"/>
              <a:gd name="connsiteX8" fmla="*/ 40463 w 6858001"/>
              <a:gd name="connsiteY8" fmla="*/ 5883 h 5529377"/>
              <a:gd name="connsiteX9" fmla="*/ 159107 w 6858001"/>
              <a:gd name="connsiteY9" fmla="*/ 23196 h 5529377"/>
              <a:gd name="connsiteX10" fmla="*/ 245518 w 6858001"/>
              <a:gd name="connsiteY10" fmla="*/ 35299 h 5529377"/>
              <a:gd name="connsiteX11" fmla="*/ 348388 w 6858001"/>
              <a:gd name="connsiteY11" fmla="*/ 48073 h 5529377"/>
              <a:gd name="connsiteX12" fmla="*/ 470460 w 6858001"/>
              <a:gd name="connsiteY12" fmla="*/ 63369 h 5529377"/>
              <a:gd name="connsiteX13" fmla="*/ 605563 w 6858001"/>
              <a:gd name="connsiteY13" fmla="*/ 79506 h 5529377"/>
              <a:gd name="connsiteX14" fmla="*/ 757810 w 6858001"/>
              <a:gd name="connsiteY14" fmla="*/ 96483 h 5529377"/>
              <a:gd name="connsiteX15" fmla="*/ 923774 w 6858001"/>
              <a:gd name="connsiteY15" fmla="*/ 114469 h 5529377"/>
              <a:gd name="connsiteX16" fmla="*/ 1104139 w 6858001"/>
              <a:gd name="connsiteY16" fmla="*/ 132454 h 5529377"/>
              <a:gd name="connsiteX17" fmla="*/ 1296163 w 6858001"/>
              <a:gd name="connsiteY17" fmla="*/ 150776 h 5529377"/>
              <a:gd name="connsiteX18" fmla="*/ 1503275 w 6858001"/>
              <a:gd name="connsiteY18" fmla="*/ 167753 h 5529377"/>
              <a:gd name="connsiteX19" fmla="*/ 1719988 w 6858001"/>
              <a:gd name="connsiteY19" fmla="*/ 184058 h 5529377"/>
              <a:gd name="connsiteX20" fmla="*/ 1949045 w 6858001"/>
              <a:gd name="connsiteY20" fmla="*/ 198849 h 5529377"/>
              <a:gd name="connsiteX21" fmla="*/ 2187703 w 6858001"/>
              <a:gd name="connsiteY21" fmla="*/ 212969 h 5529377"/>
              <a:gd name="connsiteX22" fmla="*/ 2436649 w 6858001"/>
              <a:gd name="connsiteY22" fmla="*/ 226248 h 5529377"/>
              <a:gd name="connsiteX23" fmla="*/ 2564208 w 6858001"/>
              <a:gd name="connsiteY23" fmla="*/ 230955 h 5529377"/>
              <a:gd name="connsiteX24" fmla="*/ 2694509 w 6858001"/>
              <a:gd name="connsiteY24" fmla="*/ 236165 h 5529377"/>
              <a:gd name="connsiteX25" fmla="*/ 2826868 w 6858001"/>
              <a:gd name="connsiteY25" fmla="*/ 241040 h 5529377"/>
              <a:gd name="connsiteX26" fmla="*/ 2959914 w 6858001"/>
              <a:gd name="connsiteY26" fmla="*/ 244234 h 5529377"/>
              <a:gd name="connsiteX27" fmla="*/ 3095702 w 6858001"/>
              <a:gd name="connsiteY27" fmla="*/ 247091 h 5529377"/>
              <a:gd name="connsiteX28" fmla="*/ 3232862 w 6858001"/>
              <a:gd name="connsiteY28" fmla="*/ 250117 h 5529377"/>
              <a:gd name="connsiteX29" fmla="*/ 3372765 w 6858001"/>
              <a:gd name="connsiteY29" fmla="*/ 252134 h 5529377"/>
              <a:gd name="connsiteX30" fmla="*/ 3514040 w 6858001"/>
              <a:gd name="connsiteY30" fmla="*/ 252134 h 5529377"/>
              <a:gd name="connsiteX31" fmla="*/ 3656686 w 6858001"/>
              <a:gd name="connsiteY31" fmla="*/ 253142 h 5529377"/>
              <a:gd name="connsiteX32" fmla="*/ 3800704 w 6858001"/>
              <a:gd name="connsiteY32" fmla="*/ 252134 h 5529377"/>
              <a:gd name="connsiteX33" fmla="*/ 3946780 w 6858001"/>
              <a:gd name="connsiteY33" fmla="*/ 250117 h 5529377"/>
              <a:gd name="connsiteX34" fmla="*/ 4092855 w 6858001"/>
              <a:gd name="connsiteY34" fmla="*/ 248268 h 5529377"/>
              <a:gd name="connsiteX35" fmla="*/ 4240988 w 6858001"/>
              <a:gd name="connsiteY35" fmla="*/ 244234 h 5529377"/>
              <a:gd name="connsiteX36" fmla="*/ 4390492 w 6858001"/>
              <a:gd name="connsiteY36" fmla="*/ 240032 h 5529377"/>
              <a:gd name="connsiteX37" fmla="*/ 4539997 w 6858001"/>
              <a:gd name="connsiteY37" fmla="*/ 235157 h 5529377"/>
              <a:gd name="connsiteX38" fmla="*/ 4690873 w 6858001"/>
              <a:gd name="connsiteY38" fmla="*/ 228266 h 5529377"/>
              <a:gd name="connsiteX39" fmla="*/ 4843120 w 6858001"/>
              <a:gd name="connsiteY39" fmla="*/ 220029 h 5529377"/>
              <a:gd name="connsiteX40" fmla="*/ 4996054 w 6858001"/>
              <a:gd name="connsiteY40" fmla="*/ 212129 h 5529377"/>
              <a:gd name="connsiteX41" fmla="*/ 5148987 w 6858001"/>
              <a:gd name="connsiteY41" fmla="*/ 202044 h 5529377"/>
              <a:gd name="connsiteX42" fmla="*/ 5303978 w 6858001"/>
              <a:gd name="connsiteY42" fmla="*/ 189941 h 5529377"/>
              <a:gd name="connsiteX43" fmla="*/ 5456911 w 6858001"/>
              <a:gd name="connsiteY43" fmla="*/ 177839 h 5529377"/>
              <a:gd name="connsiteX44" fmla="*/ 5612588 w 6858001"/>
              <a:gd name="connsiteY44" fmla="*/ 163887 h 5529377"/>
              <a:gd name="connsiteX45" fmla="*/ 5768950 w 6858001"/>
              <a:gd name="connsiteY45" fmla="*/ 148591 h 5529377"/>
              <a:gd name="connsiteX46" fmla="*/ 5923255 w 6858001"/>
              <a:gd name="connsiteY46" fmla="*/ 132455 h 5529377"/>
              <a:gd name="connsiteX47" fmla="*/ 6079618 w 6858001"/>
              <a:gd name="connsiteY47" fmla="*/ 113629 h 5529377"/>
              <a:gd name="connsiteX48" fmla="*/ 6235294 w 6858001"/>
              <a:gd name="connsiteY48" fmla="*/ 93458 h 5529377"/>
              <a:gd name="connsiteX49" fmla="*/ 6391657 w 6858001"/>
              <a:gd name="connsiteY49" fmla="*/ 73455 h 5529377"/>
              <a:gd name="connsiteX50" fmla="*/ 6547333 w 6858001"/>
              <a:gd name="connsiteY50" fmla="*/ 50091 h 5529377"/>
              <a:gd name="connsiteX51" fmla="*/ 6702324 w 6858001"/>
              <a:gd name="connsiteY51" fmla="*/ 26222 h 5529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5529377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5529377"/>
                </a:lnTo>
                <a:lnTo>
                  <a:pt x="0" y="5529376"/>
                </a:lnTo>
                <a:lnTo>
                  <a:pt x="0" y="891096"/>
                </a:lnTo>
                <a:lnTo>
                  <a:pt x="1" y="891096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E849FE61-12C4-4A06-A722-B545DE0C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49843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Visual Studio Enterprise 2017 - Digital License Key | SoftwareLicense4U">
            <a:extLst>
              <a:ext uri="{FF2B5EF4-FFF2-40B4-BE49-F238E27FC236}">
                <a16:creationId xmlns:a16="http://schemas.microsoft.com/office/drawing/2014/main" id="{4B5CDF85-EBAE-9A1B-8461-D40D6CAA5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5865" y="647699"/>
            <a:ext cx="3582383" cy="2683330"/>
          </a:xfrm>
          <a:prstGeom prst="rect">
            <a:avLst/>
          </a:prstGeom>
          <a:effectLst/>
        </p:spPr>
      </p:pic>
      <p:sp>
        <p:nvSpPr>
          <p:cNvPr id="18" name="Rectangle 13">
            <a:extLst>
              <a:ext uri="{FF2B5EF4-FFF2-40B4-BE49-F238E27FC236}">
                <a16:creationId xmlns:a16="http://schemas.microsoft.com/office/drawing/2014/main" id="{7FB12D8C-572F-4417-9FE1-D691A132F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87CB64-EA3B-4D8F-704B-1FE70191F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2" y="2052918"/>
            <a:ext cx="5628635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/>
              <a:t>В качестве клиентской части выступает десктопное приложение Windows Forms, разработанное в среде Visual Studio на языке программирования C#. Роль сервера данных выполняет реляционная СУБД Microsoft Access.</a:t>
            </a:r>
          </a:p>
          <a:p>
            <a:endParaRPr lang="ru-RU" dirty="0"/>
          </a:p>
        </p:txBody>
      </p:sp>
      <p:pic>
        <p:nvPicPr>
          <p:cNvPr id="5" name="Рисунок 4" descr="Файл:Microsoft Access 2013-2019 logo.svg — Википедия">
            <a:extLst>
              <a:ext uri="{FF2B5EF4-FFF2-40B4-BE49-F238E27FC236}">
                <a16:creationId xmlns:a16="http://schemas.microsoft.com/office/drawing/2014/main" id="{CC3D9415-1168-D4DF-1046-14180797D3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947" y="3526972"/>
            <a:ext cx="2872218" cy="2721427"/>
          </a:xfrm>
          <a:prstGeom prst="rect">
            <a:avLst/>
          </a:prstGeom>
          <a:effectLst/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B931722-592D-D1DA-1B11-9987FA8611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2361" y="152400"/>
            <a:ext cx="78898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562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F273A-3E20-A0D2-9526-7853B4400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dirty="0"/>
              <a:t>Центральным элементом системы является база данных, состоящая из трех ключевых взаимосвязанных таблиц, обеспечивающих хранение учетных записей, информации о транспорте и фактах аренды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9EFDB1-C38C-B1C2-2A70-7C6D0C034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Таблица «Люди».</a:t>
            </a:r>
            <a:r>
              <a:rPr lang="ru-RU" dirty="0"/>
              <a:t> Она предназначена для хранения учетных данных всех субъектов системы.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284F970-68B5-BD4D-34D8-ABAE992A2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2834144"/>
            <a:ext cx="8228648" cy="341425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824876C-AADA-E408-ADC7-261974DCFB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2361" y="152400"/>
            <a:ext cx="78898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307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F2FEE5-EC24-01A5-019A-5DF2AE520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Таблица «Автопарк».</a:t>
            </a:r>
            <a:r>
              <a:rPr lang="ru-RU" dirty="0"/>
              <a:t> Хранит актуальные сведения о транспортных автомобилях компании, доступных для краткосрочной аренды.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6A0A10D-BFA5-F93F-040D-F70D3A285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3" y="3093499"/>
            <a:ext cx="8946540" cy="30914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391FF97-5895-FC30-7AEB-876627FD75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2361" y="152400"/>
            <a:ext cx="78898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493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F523D97-2A29-160B-2722-7CDBE3104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Таблица «Система аренды».</a:t>
            </a:r>
            <a:r>
              <a:rPr lang="ru-RU" dirty="0"/>
              <a:t> Служит для регистрации фактов бронирования и расчета итоговой стоимости транзакций.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F6D1C79-F919-6AAC-B619-6EDF1C233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2842557"/>
            <a:ext cx="8201025" cy="351842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99EE050-FBF2-DFDE-3B55-E0BF4B3252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2361" y="152400"/>
            <a:ext cx="78898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469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DCF6E7-250E-890D-A460-2BE99B7DE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Разграничения прав доступа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1D8D46-740D-CCF7-FFA6-D4CBEBE65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Начальный интерфейс пользователя с ролью «Администратор».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C10040C-1011-6B56-C483-38A56571A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2520950"/>
            <a:ext cx="7888288" cy="407312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BC87FA-D34F-5EDB-C5ED-2DFA619242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2361" y="152400"/>
            <a:ext cx="78898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817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DC926C6-212A-E44A-2C0C-D1FFDCC80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Начальный интерфейс пользователя с ролью «Автовладелец».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001E1A8-F62C-3597-07D4-B13F8527D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1" y="2508250"/>
            <a:ext cx="9098915" cy="39560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2CA46E6-2514-691F-5D5A-5945758DC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2361" y="152400"/>
            <a:ext cx="78898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353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9FB5309-129E-42F9-29D3-4B0909B5C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Начальный интерфейс пользователя с ролью «Покупатель».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43D4945-3BF3-9F46-2751-9F5BB3BF1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2484437"/>
            <a:ext cx="7253288" cy="407229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7C841B-0BE8-2BC9-CF2D-6B30B54447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2361" y="152400"/>
            <a:ext cx="78898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047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461741-A158-0240-5FA1-FC1820DD9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Реализация перемещения по формам и сохранения данных в БД</a:t>
            </a:r>
            <a:br>
              <a:rPr lang="ru-RU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EB9B41-DD8D-1929-5BCD-6F844CDB1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729" y="2362201"/>
            <a:ext cx="8946541" cy="4195481"/>
          </a:xfrm>
        </p:spPr>
        <p:txBody>
          <a:bodyPr/>
          <a:lstStyle/>
          <a:p>
            <a:r>
              <a:rPr lang="ru-RU" dirty="0"/>
              <a:t>При активации управляющего элемента (кнопки перехода) текущий экземпляр формы завершает свою работу с помощью метода </a:t>
            </a:r>
            <a:r>
              <a:rPr lang="ru-RU" dirty="0" err="1"/>
              <a:t>this.Close</a:t>
            </a:r>
            <a:r>
              <a:rPr lang="ru-RU" dirty="0"/>
              <a:t>(). Одновременно с этим создается новый объект целевой формы, который присваивается соответствующей переменной, после чего визуализируется на экране посредством метода Show().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DEF1D07-D374-37ED-5AE8-B2BBC0975A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2361" y="152400"/>
            <a:ext cx="78898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745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DD603B-8623-8210-E7BB-B7A6EE1B2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ru-RU" b="1">
                <a:solidFill>
                  <a:srgbClr val="EBEBEB"/>
                </a:solidFill>
              </a:rPr>
              <a:t>Сохранение данных в БД</a:t>
            </a:r>
            <a:endParaRPr lang="ru-RU">
              <a:solidFill>
                <a:srgbClr val="EBEBEB"/>
              </a:solidFill>
            </a:endParaRPr>
          </a:p>
        </p:txBody>
      </p:sp>
      <p:sp>
        <p:nvSpPr>
          <p:cNvPr id="15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ru-RU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14DF4CC7-4D6A-F622-04A3-251D2ACB02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5347" y="647698"/>
            <a:ext cx="3767179" cy="5562601"/>
          </a:xfrm>
          <a:prstGeom prst="rect">
            <a:avLst/>
          </a:prstGeom>
          <a:effectLst/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C66F1C8-108E-F9BF-5AFC-99C0FA80E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4166509" cy="3785419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Чтобы сохраненные данные обновлялись даже после перезапуска приложения,  в свойствах базы данных в параметре «Копировать в выходной каталог» был включен пункт «Копировать более позднюю версию», благодаря чему при каждом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725CEE6-39BC-CF09-7560-E2202B94AD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2361" y="152400"/>
            <a:ext cx="78898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3176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5A1FE7-8C3B-BF52-80B8-F8BAB5D94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Использование системы контроля версий Git и сервиса GitHub</a:t>
            </a:r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02F57A8-71C2-E4D5-884D-6E3B47DBB3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200" y="1865948"/>
            <a:ext cx="9245600" cy="459112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51E5562-4ABD-D1E9-E65F-33D51D0C89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2361" y="152400"/>
            <a:ext cx="78898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10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021499-34D6-738B-31B2-480730D99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4611" y="2853018"/>
            <a:ext cx="7177089" cy="1400530"/>
          </a:xfrm>
        </p:spPr>
        <p:txBody>
          <a:bodyPr/>
          <a:lstStyle/>
          <a:p>
            <a:pPr algn="ctr"/>
            <a:r>
              <a:rPr lang="ru-RU" dirty="0"/>
              <a:t>Спасибо за внимание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E5F57D9-FE23-3F15-9BB1-6543558B12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2361" y="152400"/>
            <a:ext cx="78898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5832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65</TotalTime>
  <Words>300</Words>
  <Application>Microsoft Office PowerPoint</Application>
  <PresentationFormat>Широкоэкранный</PresentationFormat>
  <Paragraphs>22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Century Gothic</vt:lpstr>
      <vt:lpstr>Wingdings 3</vt:lpstr>
      <vt:lpstr>Ион</vt:lpstr>
      <vt:lpstr>Автоматизированная информационная система управления каршерингом автомобилей</vt:lpstr>
      <vt:lpstr>Введение </vt:lpstr>
      <vt:lpstr>Описание автоматизированной системы</vt:lpstr>
      <vt:lpstr>Центральным элементом системы является база данных, состоящая из трех ключевых взаимосвязанных таблиц, обеспечивающих хранение учетных записей, информации о транспорте и фактах аренды</vt:lpstr>
      <vt:lpstr>Презентация PowerPoint</vt:lpstr>
      <vt:lpstr>Презентация PowerPoint</vt:lpstr>
      <vt:lpstr>Разграничения прав доступа</vt:lpstr>
      <vt:lpstr>Презентация PowerPoint</vt:lpstr>
      <vt:lpstr>Презентация PowerPoint</vt:lpstr>
      <vt:lpstr>Реализация перемещения по формам и сохранения данных в БД </vt:lpstr>
      <vt:lpstr>Сохранение данных в БД</vt:lpstr>
      <vt:lpstr>Использование системы контроля версий Git и сервиса GitHub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Студент</dc:creator>
  <cp:lastModifiedBy>Студент</cp:lastModifiedBy>
  <cp:revision>1</cp:revision>
  <dcterms:created xsi:type="dcterms:W3CDTF">2026-05-27T05:50:54Z</dcterms:created>
  <dcterms:modified xsi:type="dcterms:W3CDTF">2026-05-27T06:56:51Z</dcterms:modified>
</cp:coreProperties>
</file>